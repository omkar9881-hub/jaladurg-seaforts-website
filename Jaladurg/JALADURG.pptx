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1E5C2-F35E-452C-B1F6-9A4C6D13C9EC}" v="194" dt="2025-04-11T05:18:48.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0" autoAdjust="0"/>
    <p:restoredTop sz="94660"/>
  </p:normalViewPr>
  <p:slideViewPr>
    <p:cSldViewPr snapToGrid="0">
      <p:cViewPr>
        <p:scale>
          <a:sx n="66" d="100"/>
          <a:sy n="66" d="100"/>
        </p:scale>
        <p:origin x="1642" y="31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Shelar" userId="d2c05b901f8355d5" providerId="LiveId" clId="{C8F1E5C2-F35E-452C-B1F6-9A4C6D13C9EC}"/>
    <pc:docChg chg="custSel addSld delSld modSld addMainMaster delMainMaster">
      <pc:chgData name="Omkar Shelar" userId="d2c05b901f8355d5" providerId="LiveId" clId="{C8F1E5C2-F35E-452C-B1F6-9A4C6D13C9EC}" dt="2025-04-11T05:19:12.785" v="28" actId="47"/>
      <pc:docMkLst>
        <pc:docMk/>
      </pc:docMkLst>
      <pc:sldChg chg="modSp">
        <pc:chgData name="Omkar Shelar" userId="d2c05b901f8355d5" providerId="LiveId" clId="{C8F1E5C2-F35E-452C-B1F6-9A4C6D13C9EC}" dt="2025-04-11T05:06:41.866" v="20" actId="20577"/>
        <pc:sldMkLst>
          <pc:docMk/>
          <pc:sldMk cId="590586394" sldId="259"/>
        </pc:sldMkLst>
        <pc:spChg chg="mod">
          <ac:chgData name="Omkar Shelar" userId="d2c05b901f8355d5" providerId="LiveId" clId="{C8F1E5C2-F35E-452C-B1F6-9A4C6D13C9EC}" dt="2025-04-11T05:06:41.866" v="20" actId="20577"/>
          <ac:spMkLst>
            <pc:docMk/>
            <pc:sldMk cId="590586394" sldId="259"/>
            <ac:spMk id="15" creationId="{98A7BA24-C1C8-5842-29C5-907556240595}"/>
          </ac:spMkLst>
        </pc:spChg>
      </pc:sldChg>
      <pc:sldChg chg="modAnim">
        <pc:chgData name="Omkar Shelar" userId="d2c05b901f8355d5" providerId="LiveId" clId="{C8F1E5C2-F35E-452C-B1F6-9A4C6D13C9EC}" dt="2025-04-11T05:02:34.524" v="1"/>
        <pc:sldMkLst>
          <pc:docMk/>
          <pc:sldMk cId="2578883862" sldId="262"/>
        </pc:sldMkLst>
      </pc:sldChg>
      <pc:sldChg chg="addSp delSp modSp new del mod">
        <pc:chgData name="Omkar Shelar" userId="d2c05b901f8355d5" providerId="LiveId" clId="{C8F1E5C2-F35E-452C-B1F6-9A4C6D13C9EC}" dt="2025-04-11T05:19:10.025" v="27" actId="47"/>
        <pc:sldMkLst>
          <pc:docMk/>
          <pc:sldMk cId="1025918431" sldId="266"/>
        </pc:sldMkLst>
        <pc:spChg chg="add del mod">
          <ac:chgData name="Omkar Shelar" userId="d2c05b901f8355d5" providerId="LiveId" clId="{C8F1E5C2-F35E-452C-B1F6-9A4C6D13C9EC}" dt="2025-04-11T05:16:14.208" v="23" actId="478"/>
          <ac:spMkLst>
            <pc:docMk/>
            <pc:sldMk cId="1025918431" sldId="266"/>
            <ac:spMk id="2" creationId="{5F7C5253-68BB-0FB0-D017-758EC3667A05}"/>
          </ac:spMkLst>
        </pc:spChg>
        <pc:picChg chg="add del">
          <ac:chgData name="Omkar Shelar" userId="d2c05b901f8355d5" providerId="LiveId" clId="{C8F1E5C2-F35E-452C-B1F6-9A4C6D13C9EC}" dt="2025-04-11T05:19:00.057" v="26" actId="478"/>
          <ac:picMkLst>
            <pc:docMk/>
            <pc:sldMk cId="1025918431" sldId="266"/>
            <ac:picMk id="3" creationId="{9009B8C4-367B-A558-4234-84F154BDFA7E}"/>
          </ac:picMkLst>
        </pc:picChg>
      </pc:sldChg>
      <pc:sldChg chg="addSp modSp new del mod">
        <pc:chgData name="Omkar Shelar" userId="d2c05b901f8355d5" providerId="LiveId" clId="{C8F1E5C2-F35E-452C-B1F6-9A4C6D13C9EC}" dt="2025-04-11T05:05:38.127" v="14" actId="47"/>
        <pc:sldMkLst>
          <pc:docMk/>
          <pc:sldMk cId="1768265548" sldId="266"/>
        </pc:sldMkLst>
        <pc:spChg chg="add mod">
          <ac:chgData name="Omkar Shelar" userId="d2c05b901f8355d5" providerId="LiveId" clId="{C8F1E5C2-F35E-452C-B1F6-9A4C6D13C9EC}" dt="2025-04-11T05:04:26.862" v="13" actId="20577"/>
          <ac:spMkLst>
            <pc:docMk/>
            <pc:sldMk cId="1768265548" sldId="266"/>
            <ac:spMk id="2" creationId="{3135B6D7-F5B3-F0D2-FCAC-D9FC70F41053}"/>
          </ac:spMkLst>
        </pc:spChg>
      </pc:sldChg>
      <pc:sldChg chg="add del">
        <pc:chgData name="Omkar Shelar" userId="d2c05b901f8355d5" providerId="LiveId" clId="{C8F1E5C2-F35E-452C-B1F6-9A4C6D13C9EC}" dt="2025-04-11T05:19:12.785" v="28" actId="47"/>
        <pc:sldMkLst>
          <pc:docMk/>
          <pc:sldMk cId="3399724541" sldId="790"/>
        </pc:sldMkLst>
      </pc:sldChg>
      <pc:sldMasterChg chg="add del addSldLayout delSldLayout">
        <pc:chgData name="Omkar Shelar" userId="d2c05b901f8355d5" providerId="LiveId" clId="{C8F1E5C2-F35E-452C-B1F6-9A4C6D13C9EC}" dt="2025-04-11T05:19:12.785" v="28" actId="47"/>
        <pc:sldMasterMkLst>
          <pc:docMk/>
          <pc:sldMasterMk cId="396153223" sldId="2147483648"/>
        </pc:sldMasterMkLst>
        <pc:sldLayoutChg chg="add del">
          <pc:chgData name="Omkar Shelar" userId="d2c05b901f8355d5" providerId="LiveId" clId="{C8F1E5C2-F35E-452C-B1F6-9A4C6D13C9EC}" dt="2025-04-11T05:19:12.785" v="28" actId="47"/>
          <pc:sldLayoutMkLst>
            <pc:docMk/>
            <pc:sldMasterMk cId="396153223" sldId="2147483648"/>
            <pc:sldLayoutMk cId="960151928" sldId="2147483650"/>
          </pc:sldLayoutMkLst>
        </pc:sldLayoutChg>
        <pc:sldLayoutChg chg="add del">
          <pc:chgData name="Omkar Shelar" userId="d2c05b901f8355d5" providerId="LiveId" clId="{C8F1E5C2-F35E-452C-B1F6-9A4C6D13C9EC}" dt="2025-04-11T05:19:12.785" v="28" actId="47"/>
          <pc:sldLayoutMkLst>
            <pc:docMk/>
            <pc:sldMasterMk cId="396153223" sldId="2147483648"/>
            <pc:sldLayoutMk cId="514468667" sldId="2147483731"/>
          </pc:sldLayoutMkLst>
        </pc:sldLayoutChg>
        <pc:sldLayoutChg chg="add del">
          <pc:chgData name="Omkar Shelar" userId="d2c05b901f8355d5" providerId="LiveId" clId="{C8F1E5C2-F35E-452C-B1F6-9A4C6D13C9EC}" dt="2025-04-11T05:19:12.785" v="28" actId="47"/>
          <pc:sldLayoutMkLst>
            <pc:docMk/>
            <pc:sldMasterMk cId="396153223" sldId="2147483648"/>
            <pc:sldLayoutMk cId="526319559" sldId="214748385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58B086-FD21-4273-95FE-C03B6CB78207}" type="datetimeFigureOut">
              <a:rPr lang="en-IN" smtClean="0"/>
              <a:t>11-04-2025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B8E192-B82C-435A-B5D1-0BF83BA91BF7}" type="slidenum">
              <a:rPr lang="en-IN" smtClean="0"/>
              <a:t>‹#›</a:t>
            </a:fld>
            <a:endParaRPr lang="en-IN"/>
          </a:p>
        </p:txBody>
      </p:sp>
    </p:spTree>
    <p:extLst>
      <p:ext uri="{BB962C8B-B14F-4D97-AF65-F5344CB8AC3E}">
        <p14:creationId xmlns:p14="http://schemas.microsoft.com/office/powerpoint/2010/main" val="2993670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9B0024-8530-4FB0-9CC6-5FEF4C47AE14}"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2765042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B0024-8530-4FB0-9CC6-5FEF4C47AE14}"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747574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B0024-8530-4FB0-9CC6-5FEF4C47AE14}"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328321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2059970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9B0024-8530-4FB0-9CC6-5FEF4C47AE14}" type="datetimeFigureOut">
              <a:rPr lang="en-IN" smtClean="0"/>
              <a:t>11-04-2025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420016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9B0024-8530-4FB0-9CC6-5FEF4C47AE14}" type="datetimeFigureOut">
              <a:rPr lang="en-IN" smtClean="0"/>
              <a:t>11-04-2025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2466088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69B0024-8530-4FB0-9CC6-5FEF4C47AE14}" type="datetimeFigureOut">
              <a:rPr lang="en-IN" smtClean="0"/>
              <a:t>11-04-2025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197318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3743604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1426122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3480610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1665263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87127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B0024-8530-4FB0-9CC6-5FEF4C47AE14}"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478253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9B0024-8530-4FB0-9CC6-5FEF4C47AE14}" type="datetimeFigureOut">
              <a:rPr lang="en-IN" smtClean="0"/>
              <a:t>11-04-2025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19551910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9B0024-8530-4FB0-9CC6-5FEF4C47AE14}" type="datetimeFigureOut">
              <a:rPr lang="en-IN" smtClean="0"/>
              <a:t>11-04-2025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2732366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B0024-8530-4FB0-9CC6-5FEF4C47AE14}"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2827861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B0024-8530-4FB0-9CC6-5FEF4C47AE14}"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0AF46-5552-4675-B17A-E8F68FFE27B3}" type="slidenum">
              <a:rPr lang="en-IN" smtClean="0"/>
              <a:t>‹#›</a:t>
            </a:fld>
            <a:endParaRPr lang="en-IN"/>
          </a:p>
        </p:txBody>
      </p:sp>
    </p:spTree>
    <p:extLst>
      <p:ext uri="{BB962C8B-B14F-4D97-AF65-F5344CB8AC3E}">
        <p14:creationId xmlns:p14="http://schemas.microsoft.com/office/powerpoint/2010/main" val="2250677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4000">
              <a:schemeClr val="bg2">
                <a:tint val="84000"/>
                <a:shade val="100000"/>
                <a:hueMod val="92000"/>
                <a:satMod val="180000"/>
                <a:lumMod val="88000"/>
                <a:lumOff val="12000"/>
              </a:schemeClr>
            </a:gs>
            <a:gs pos="100000">
              <a:schemeClr val="bg2">
                <a:shade val="92000"/>
                <a:satMod val="170000"/>
                <a:lumMod val="96000"/>
              </a:schemeClr>
            </a:gs>
          </a:gsLst>
          <a:path path="shape">
            <a:fillToRect l="50000" t="50000" r="50000" b="50000"/>
          </a:path>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69B0024-8530-4FB0-9CC6-5FEF4C47AE14}" type="datetimeFigureOut">
              <a:rPr lang="en-IN" smtClean="0"/>
              <a:t>11-04-2025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FF80AF46-5552-4675-B17A-E8F68FFE27B3}" type="slidenum">
              <a:rPr lang="en-IN" smtClean="0"/>
              <a:t>‹#›</a:t>
            </a:fld>
            <a:endParaRPr lang="en-IN"/>
          </a:p>
        </p:txBody>
      </p:sp>
    </p:spTree>
    <p:extLst>
      <p:ext uri="{BB962C8B-B14F-4D97-AF65-F5344CB8AC3E}">
        <p14:creationId xmlns:p14="http://schemas.microsoft.com/office/powerpoint/2010/main" val="357143580"/>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3AF2-DAB8-F84A-4248-6BF2B63D3CD4}"/>
              </a:ext>
            </a:extLst>
          </p:cNvPr>
          <p:cNvSpPr>
            <a:spLocks noGrp="1"/>
          </p:cNvSpPr>
          <p:nvPr>
            <p:ph type="ctrTitle"/>
          </p:nvPr>
        </p:nvSpPr>
        <p:spPr>
          <a:xfrm>
            <a:off x="4119715" y="512774"/>
            <a:ext cx="4188543" cy="971580"/>
          </a:xfrm>
        </p:spPr>
        <p:txBody>
          <a:bodyPr>
            <a:noAutofit/>
          </a:bodyPr>
          <a:lstStyle/>
          <a:p>
            <a:r>
              <a:rPr lang="en-US" sz="6000" u="sng" dirty="0">
                <a:effectLst>
                  <a:outerShdw blurRad="38100" dist="38100" dir="2700000" algn="tl">
                    <a:srgbClr val="000000">
                      <a:alpha val="43137"/>
                    </a:srgbClr>
                  </a:outerShdw>
                </a:effectLst>
                <a:latin typeface="Sitka Text Semibold" pitchFamily="2" charset="0"/>
              </a:rPr>
              <a:t>JALADURG</a:t>
            </a:r>
            <a:endParaRPr lang="en-IN" sz="6000" u="sng" dirty="0">
              <a:effectLst>
                <a:outerShdw blurRad="38100" dist="38100" dir="2700000" algn="tl">
                  <a:srgbClr val="000000">
                    <a:alpha val="43137"/>
                  </a:srgbClr>
                </a:outerShdw>
              </a:effectLst>
              <a:latin typeface="Sitka Text Semibold" pitchFamily="2" charset="0"/>
            </a:endParaRPr>
          </a:p>
        </p:txBody>
      </p:sp>
      <p:sp>
        <p:nvSpPr>
          <p:cNvPr id="3" name="Subtitle 2">
            <a:extLst>
              <a:ext uri="{FF2B5EF4-FFF2-40B4-BE49-F238E27FC236}">
                <a16:creationId xmlns:a16="http://schemas.microsoft.com/office/drawing/2014/main" id="{CEDA295A-4EFA-B311-3681-439E5992E8F5}"/>
              </a:ext>
            </a:extLst>
          </p:cNvPr>
          <p:cNvSpPr>
            <a:spLocks noGrp="1"/>
          </p:cNvSpPr>
          <p:nvPr>
            <p:ph type="subTitle" idx="1"/>
          </p:nvPr>
        </p:nvSpPr>
        <p:spPr>
          <a:xfrm>
            <a:off x="92597" y="1752793"/>
            <a:ext cx="11988789" cy="1386840"/>
          </a:xfrm>
        </p:spPr>
        <p:txBody>
          <a:bodyPr>
            <a:noAutofit/>
          </a:bodyPr>
          <a:lstStyle/>
          <a:p>
            <a:r>
              <a:rPr lang="en-IN" sz="3200" dirty="0">
                <a:solidFill>
                  <a:schemeClr val="tx1"/>
                </a:solidFill>
                <a:latin typeface="Sitka Text Semibold" pitchFamily="2" charset="0"/>
              </a:rPr>
              <a:t>( Information  About  Major  Sea  Forts In Maharashtra )</a:t>
            </a:r>
          </a:p>
        </p:txBody>
      </p:sp>
      <p:sp>
        <p:nvSpPr>
          <p:cNvPr id="8" name="TextBox 7">
            <a:extLst>
              <a:ext uri="{FF2B5EF4-FFF2-40B4-BE49-F238E27FC236}">
                <a16:creationId xmlns:a16="http://schemas.microsoft.com/office/drawing/2014/main" id="{72215A72-E380-386A-FDC9-124D5DE26732}"/>
              </a:ext>
            </a:extLst>
          </p:cNvPr>
          <p:cNvSpPr txBox="1"/>
          <p:nvPr/>
        </p:nvSpPr>
        <p:spPr>
          <a:xfrm>
            <a:off x="730045" y="4171008"/>
            <a:ext cx="9418320" cy="1938992"/>
          </a:xfrm>
          <a:prstGeom prst="rect">
            <a:avLst/>
          </a:prstGeom>
          <a:noFill/>
        </p:spPr>
        <p:txBody>
          <a:bodyPr wrap="square" rtlCol="0">
            <a:spAutoFit/>
          </a:bodyPr>
          <a:lstStyle/>
          <a:p>
            <a:r>
              <a:rPr lang="en-IN" sz="4000" dirty="0">
                <a:latin typeface="Sitka Text Semibold" pitchFamily="2" charset="0"/>
              </a:rPr>
              <a:t>OMKAR SHELAR 	  14411</a:t>
            </a:r>
          </a:p>
          <a:p>
            <a:r>
              <a:rPr lang="en-IN" sz="4000" dirty="0">
                <a:latin typeface="Sitka Text Semibold" pitchFamily="2" charset="0"/>
              </a:rPr>
              <a:t> </a:t>
            </a:r>
          </a:p>
          <a:p>
            <a:r>
              <a:rPr lang="en-IN" sz="4000" dirty="0">
                <a:latin typeface="Sitka Text Semibold" pitchFamily="2" charset="0"/>
              </a:rPr>
              <a:t>SANKET PATIL     14460</a:t>
            </a:r>
          </a:p>
        </p:txBody>
      </p:sp>
    </p:spTree>
    <p:extLst>
      <p:ext uri="{BB962C8B-B14F-4D97-AF65-F5344CB8AC3E}">
        <p14:creationId xmlns:p14="http://schemas.microsoft.com/office/powerpoint/2010/main" val="391611587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80">
                                          <p:stCondLst>
                                            <p:cond delay="0"/>
                                          </p:stCondLst>
                                        </p:cTn>
                                        <p:tgtEl>
                                          <p:spTgt spid="8"/>
                                        </p:tgtEl>
                                      </p:cBhvr>
                                    </p:animEffect>
                                    <p:anim calcmode="lin" valueType="num">
                                      <p:cBhvr>
                                        <p:cTn id="2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 dur="26">
                                          <p:stCondLst>
                                            <p:cond delay="650"/>
                                          </p:stCondLst>
                                        </p:cTn>
                                        <p:tgtEl>
                                          <p:spTgt spid="8"/>
                                        </p:tgtEl>
                                      </p:cBhvr>
                                      <p:to x="100000" y="60000"/>
                                    </p:animScale>
                                    <p:animScale>
                                      <p:cBhvr>
                                        <p:cTn id="27" dur="166" decel="50000">
                                          <p:stCondLst>
                                            <p:cond delay="676"/>
                                          </p:stCondLst>
                                        </p:cTn>
                                        <p:tgtEl>
                                          <p:spTgt spid="8"/>
                                        </p:tgtEl>
                                      </p:cBhvr>
                                      <p:to x="100000" y="100000"/>
                                    </p:animScale>
                                    <p:animScale>
                                      <p:cBhvr>
                                        <p:cTn id="28" dur="26">
                                          <p:stCondLst>
                                            <p:cond delay="1312"/>
                                          </p:stCondLst>
                                        </p:cTn>
                                        <p:tgtEl>
                                          <p:spTgt spid="8"/>
                                        </p:tgtEl>
                                      </p:cBhvr>
                                      <p:to x="100000" y="80000"/>
                                    </p:animScale>
                                    <p:animScale>
                                      <p:cBhvr>
                                        <p:cTn id="29" dur="166" decel="50000">
                                          <p:stCondLst>
                                            <p:cond delay="1338"/>
                                          </p:stCondLst>
                                        </p:cTn>
                                        <p:tgtEl>
                                          <p:spTgt spid="8"/>
                                        </p:tgtEl>
                                      </p:cBhvr>
                                      <p:to x="100000" y="100000"/>
                                    </p:animScale>
                                    <p:animScale>
                                      <p:cBhvr>
                                        <p:cTn id="30" dur="26">
                                          <p:stCondLst>
                                            <p:cond delay="1642"/>
                                          </p:stCondLst>
                                        </p:cTn>
                                        <p:tgtEl>
                                          <p:spTgt spid="8"/>
                                        </p:tgtEl>
                                      </p:cBhvr>
                                      <p:to x="100000" y="90000"/>
                                    </p:animScale>
                                    <p:animScale>
                                      <p:cBhvr>
                                        <p:cTn id="31" dur="166" decel="50000">
                                          <p:stCondLst>
                                            <p:cond delay="1668"/>
                                          </p:stCondLst>
                                        </p:cTn>
                                        <p:tgtEl>
                                          <p:spTgt spid="8"/>
                                        </p:tgtEl>
                                      </p:cBhvr>
                                      <p:to x="100000" y="100000"/>
                                    </p:animScale>
                                    <p:animScale>
                                      <p:cBhvr>
                                        <p:cTn id="32" dur="26">
                                          <p:stCondLst>
                                            <p:cond delay="1808"/>
                                          </p:stCondLst>
                                        </p:cTn>
                                        <p:tgtEl>
                                          <p:spTgt spid="8"/>
                                        </p:tgtEl>
                                      </p:cBhvr>
                                      <p:to x="100000" y="95000"/>
                                    </p:animScale>
                                    <p:animScale>
                                      <p:cBhvr>
                                        <p:cTn id="33"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E66A1-11E7-37C7-70A8-18FDEB4D9590}"/>
              </a:ext>
            </a:extLst>
          </p:cNvPr>
          <p:cNvSpPr>
            <a:spLocks noGrp="1"/>
          </p:cNvSpPr>
          <p:nvPr>
            <p:ph type="title"/>
          </p:nvPr>
        </p:nvSpPr>
        <p:spPr>
          <a:xfrm>
            <a:off x="913774" y="161317"/>
            <a:ext cx="10364451" cy="1930078"/>
          </a:xfrm>
        </p:spPr>
        <p:txBody>
          <a:bodyPr>
            <a:normAutofit/>
          </a:bodyPr>
          <a:lstStyle/>
          <a:p>
            <a:r>
              <a:rPr lang="en-IN" sz="4000" u="sng" dirty="0">
                <a:effectLst>
                  <a:outerShdw blurRad="38100" dist="38100" dir="2700000" algn="tl">
                    <a:srgbClr val="000000">
                      <a:alpha val="43137"/>
                    </a:srgbClr>
                  </a:outerShdw>
                </a:effectLst>
                <a:latin typeface="Sitka Text Semibold" pitchFamily="2" charset="0"/>
                <a:ea typeface="Segoe UI Black" panose="020B0A02040204020203" pitchFamily="34" charset="0"/>
              </a:rPr>
              <a:t>Information About Website</a:t>
            </a:r>
          </a:p>
        </p:txBody>
      </p:sp>
      <p:sp>
        <p:nvSpPr>
          <p:cNvPr id="3" name="Content Placeholder 2">
            <a:extLst>
              <a:ext uri="{FF2B5EF4-FFF2-40B4-BE49-F238E27FC236}">
                <a16:creationId xmlns:a16="http://schemas.microsoft.com/office/drawing/2014/main" id="{2F4F9254-2D2D-4153-FB74-0073120B7CF5}"/>
              </a:ext>
            </a:extLst>
          </p:cNvPr>
          <p:cNvSpPr>
            <a:spLocks noGrp="1"/>
          </p:cNvSpPr>
          <p:nvPr>
            <p:ph sz="quarter" idx="13"/>
          </p:nvPr>
        </p:nvSpPr>
        <p:spPr>
          <a:xfrm>
            <a:off x="1050934" y="1864172"/>
            <a:ext cx="10363826" cy="4140388"/>
          </a:xfrm>
        </p:spPr>
        <p:txBody>
          <a:bodyPr>
            <a:noAutofit/>
          </a:bodyPr>
          <a:lstStyle/>
          <a:p>
            <a:pPr marL="0" indent="0">
              <a:buNone/>
            </a:pPr>
            <a:r>
              <a:rPr lang="en-US" sz="2800" dirty="0">
                <a:latin typeface="Sitka Text Semibold" pitchFamily="2" charset="0"/>
              </a:rPr>
              <a:t>As part of this project, a website has been conceptualized and designed to provide </a:t>
            </a:r>
            <a:r>
              <a:rPr lang="en-IN" sz="2800" dirty="0">
                <a:latin typeface="Sitka Subheading Semibold" pitchFamily="2" charset="0"/>
              </a:rPr>
              <a:t>complete</a:t>
            </a:r>
            <a:r>
              <a:rPr lang="en-US" sz="2800" dirty="0">
                <a:latin typeface="Sitka Text Semibold" pitchFamily="2" charset="0"/>
              </a:rPr>
              <a:t> information about the </a:t>
            </a:r>
            <a:r>
              <a:rPr lang="en-US" sz="2800" b="1" dirty="0">
                <a:latin typeface="Sitka Text Semibold" pitchFamily="2" charset="0"/>
              </a:rPr>
              <a:t>JALADURG </a:t>
            </a:r>
            <a:r>
              <a:rPr lang="en-US" sz="2800" dirty="0">
                <a:latin typeface="Sitka Text Semibold" pitchFamily="2" charset="0"/>
              </a:rPr>
              <a:t>. The aim of this website is to create an interactive digital platform where users can learn about the historical and cultural aspects of various sea forts along the coast of Maharashtra.</a:t>
            </a:r>
            <a:endParaRPr lang="en-IN" sz="2800" dirty="0">
              <a:latin typeface="Sitka Text Semibold" pitchFamily="2" charset="0"/>
            </a:endParaRPr>
          </a:p>
        </p:txBody>
      </p:sp>
    </p:spTree>
    <p:extLst>
      <p:ext uri="{BB962C8B-B14F-4D97-AF65-F5344CB8AC3E}">
        <p14:creationId xmlns:p14="http://schemas.microsoft.com/office/powerpoint/2010/main" val="30098694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0B89-AB0E-00BF-F490-C51CB9A7FC1B}"/>
              </a:ext>
            </a:extLst>
          </p:cNvPr>
          <p:cNvSpPr>
            <a:spLocks noGrp="1"/>
          </p:cNvSpPr>
          <p:nvPr>
            <p:ph type="title"/>
          </p:nvPr>
        </p:nvSpPr>
        <p:spPr>
          <a:xfrm>
            <a:off x="913773" y="169724"/>
            <a:ext cx="10364451" cy="1596177"/>
          </a:xfrm>
        </p:spPr>
        <p:txBody>
          <a:bodyPr>
            <a:normAutofit/>
          </a:bodyPr>
          <a:lstStyle/>
          <a:p>
            <a:r>
              <a:rPr lang="en-IN" sz="4400" u="sng" dirty="0">
                <a:latin typeface="Sitka Text Semibold" pitchFamily="2" charset="0"/>
              </a:rPr>
              <a:t>Purpose of the Website</a:t>
            </a:r>
          </a:p>
        </p:txBody>
      </p:sp>
      <p:sp>
        <p:nvSpPr>
          <p:cNvPr id="4" name="Rectangle 1">
            <a:extLst>
              <a:ext uri="{FF2B5EF4-FFF2-40B4-BE49-F238E27FC236}">
                <a16:creationId xmlns:a16="http://schemas.microsoft.com/office/drawing/2014/main" id="{1A9440C6-C61C-8745-13D5-90C160E89567}"/>
              </a:ext>
            </a:extLst>
          </p:cNvPr>
          <p:cNvSpPr>
            <a:spLocks noGrp="1" noChangeArrowheads="1"/>
          </p:cNvSpPr>
          <p:nvPr>
            <p:ph sz="quarter" idx="13"/>
          </p:nvPr>
        </p:nvSpPr>
        <p:spPr bwMode="auto">
          <a:xfrm>
            <a:off x="842652" y="1662093"/>
            <a:ext cx="1089214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pPr>
            <a:r>
              <a:rPr kumimoji="0" lang="en-US" altLang="en-US" sz="2800" b="0" i="0" u="none" strike="noStrike" cap="none" normalizeH="0" baseline="0" dirty="0">
                <a:ln>
                  <a:noFill/>
                </a:ln>
                <a:solidFill>
                  <a:schemeClr val="tx1"/>
                </a:solidFill>
                <a:effectLst/>
                <a:latin typeface="Sitka Text Semibold" pitchFamily="2" charset="0"/>
              </a:rPr>
              <a:t>  To educate visitors about the importance of Maharashtra’s</a:t>
            </a:r>
            <a:r>
              <a:rPr kumimoji="0" lang="en-US" altLang="en-US" sz="2800" b="0" i="0" u="none" strike="noStrike" cap="none" normalizeH="0" dirty="0">
                <a:ln>
                  <a:noFill/>
                </a:ln>
                <a:solidFill>
                  <a:schemeClr val="tx1"/>
                </a:solidFill>
                <a:effectLst/>
                <a:latin typeface="Sitka Text Semibold" pitchFamily="2" charset="0"/>
              </a:rPr>
              <a:t> 	</a:t>
            </a:r>
            <a:r>
              <a:rPr kumimoji="0" lang="en-US" altLang="en-US" sz="2800" b="0" i="0" u="none" strike="noStrike" cap="none" normalizeH="0" baseline="0" dirty="0">
                <a:ln>
                  <a:noFill/>
                </a:ln>
                <a:solidFill>
                  <a:schemeClr val="tx1"/>
                </a:solidFill>
                <a:effectLst/>
                <a:latin typeface="Sitka Text Semibold" pitchFamily="2" charset="0"/>
              </a:rPr>
              <a:t>sea forts.</a:t>
            </a:r>
            <a:endParaRPr lang="en-US" altLang="en-US" sz="2800" cap="none" dirty="0">
              <a:latin typeface="Sitka Text Semibold" pitchFamily="2" charset="0"/>
            </a:endParaRPr>
          </a:p>
        </p:txBody>
      </p:sp>
      <p:sp>
        <p:nvSpPr>
          <p:cNvPr id="5" name="TextBox 4">
            <a:extLst>
              <a:ext uri="{FF2B5EF4-FFF2-40B4-BE49-F238E27FC236}">
                <a16:creationId xmlns:a16="http://schemas.microsoft.com/office/drawing/2014/main" id="{B57637DE-5065-363C-F16F-EF4C8D34A5D6}"/>
              </a:ext>
            </a:extLst>
          </p:cNvPr>
          <p:cNvSpPr txBox="1"/>
          <p:nvPr/>
        </p:nvSpPr>
        <p:spPr>
          <a:xfrm>
            <a:off x="842652" y="2712720"/>
            <a:ext cx="11176628" cy="954107"/>
          </a:xfrm>
          <a:prstGeom prst="rect">
            <a:avLst/>
          </a:prstGeom>
          <a:noFill/>
        </p:spPr>
        <p:txBody>
          <a:bodyPr wrap="square" rtlCol="0">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itka Text Semibold" pitchFamily="2" charset="0"/>
              </a:rPr>
              <a:t>To provide detailed information about each fort – history, location, architectural style, and images.</a:t>
            </a:r>
          </a:p>
        </p:txBody>
      </p:sp>
      <p:sp>
        <p:nvSpPr>
          <p:cNvPr id="6" name="TextBox 5">
            <a:extLst>
              <a:ext uri="{FF2B5EF4-FFF2-40B4-BE49-F238E27FC236}">
                <a16:creationId xmlns:a16="http://schemas.microsoft.com/office/drawing/2014/main" id="{B51AB7CB-DE50-0109-9AAA-79C12E4EA3A8}"/>
              </a:ext>
            </a:extLst>
          </p:cNvPr>
          <p:cNvSpPr txBox="1"/>
          <p:nvPr/>
        </p:nvSpPr>
        <p:spPr>
          <a:xfrm>
            <a:off x="842652" y="3859867"/>
            <a:ext cx="10770227" cy="954107"/>
          </a:xfrm>
          <a:prstGeom prst="rect">
            <a:avLst/>
          </a:prstGeom>
          <a:noFill/>
        </p:spPr>
        <p:txBody>
          <a:bodyPr wrap="square" rtlCol="0">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itka Text Semibold" pitchFamily="2" charset="0"/>
              </a:rPr>
              <a:t>To promote cultural tourism and spread awareness about the need for conservation.</a:t>
            </a:r>
          </a:p>
        </p:txBody>
      </p:sp>
      <p:sp>
        <p:nvSpPr>
          <p:cNvPr id="7" name="TextBox 6">
            <a:extLst>
              <a:ext uri="{FF2B5EF4-FFF2-40B4-BE49-F238E27FC236}">
                <a16:creationId xmlns:a16="http://schemas.microsoft.com/office/drawing/2014/main" id="{F3F8B67F-3586-BABC-66F3-407BAC6C7C0E}"/>
              </a:ext>
            </a:extLst>
          </p:cNvPr>
          <p:cNvSpPr txBox="1"/>
          <p:nvPr/>
        </p:nvSpPr>
        <p:spPr>
          <a:xfrm>
            <a:off x="842652" y="5049520"/>
            <a:ext cx="10607039" cy="954107"/>
          </a:xfrm>
          <a:prstGeom prst="rect">
            <a:avLst/>
          </a:prstGeom>
          <a:noFill/>
        </p:spPr>
        <p:txBody>
          <a:bodyPr wrap="square" rtlCol="0">
            <a:spAutoFit/>
          </a:bodyPr>
          <a:lstStyle/>
          <a:p>
            <a:pPr marL="457200" indent="-457200">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Sitka Text Semibold" pitchFamily="2" charset="0"/>
              </a:rPr>
              <a:t>To make historical content easily accessible to students, researchers, and tourists.</a:t>
            </a:r>
          </a:p>
        </p:txBody>
      </p:sp>
    </p:spTree>
    <p:extLst>
      <p:ext uri="{BB962C8B-B14F-4D97-AF65-F5344CB8AC3E}">
        <p14:creationId xmlns:p14="http://schemas.microsoft.com/office/powerpoint/2010/main" val="213647482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calcmode="lin" valueType="num">
                                      <p:cBhvr>
                                        <p:cTn id="25"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6"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animEffect transition="in" filter="fade">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p:cTn id="46" dur="500" fill="hold"/>
                                        <p:tgtEl>
                                          <p:spTgt spid="7"/>
                                        </p:tgtEl>
                                        <p:attrNameLst>
                                          <p:attrName>ppt_w</p:attrName>
                                        </p:attrNameLst>
                                      </p:cBhvr>
                                      <p:tavLst>
                                        <p:tav tm="0">
                                          <p:val>
                                            <p:fltVal val="0"/>
                                          </p:val>
                                        </p:tav>
                                        <p:tav tm="100000">
                                          <p:val>
                                            <p:strVal val="#ppt_w"/>
                                          </p:val>
                                        </p:tav>
                                      </p:tavLst>
                                    </p:anim>
                                    <p:anim calcmode="lin" valueType="num">
                                      <p:cBhvr>
                                        <p:cTn id="47" dur="500" fill="hold"/>
                                        <p:tgtEl>
                                          <p:spTgt spid="7"/>
                                        </p:tgtEl>
                                        <p:attrNameLst>
                                          <p:attrName>ppt_h</p:attrName>
                                        </p:attrNameLst>
                                      </p:cBhvr>
                                      <p:tavLst>
                                        <p:tav tm="0">
                                          <p:val>
                                            <p:fltVal val="0"/>
                                          </p:val>
                                        </p:tav>
                                        <p:tav tm="100000">
                                          <p:val>
                                            <p:strVal val="#ppt_h"/>
                                          </p:val>
                                        </p:tav>
                                      </p:tavLst>
                                    </p:anim>
                                    <p:animEffect transition="in" filter="fade">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3AC84-CCC2-3A39-4914-EA2CF50DEB39}"/>
              </a:ext>
            </a:extLst>
          </p:cNvPr>
          <p:cNvSpPr>
            <a:spLocks noGrp="1"/>
          </p:cNvSpPr>
          <p:nvPr>
            <p:ph type="title"/>
          </p:nvPr>
        </p:nvSpPr>
        <p:spPr>
          <a:xfrm>
            <a:off x="623137" y="0"/>
            <a:ext cx="10945725" cy="1134061"/>
          </a:xfrm>
        </p:spPr>
        <p:txBody>
          <a:bodyPr>
            <a:normAutofit/>
          </a:bodyPr>
          <a:lstStyle/>
          <a:p>
            <a:r>
              <a:rPr lang="en-IN" sz="4400" u="sng" dirty="0">
                <a:effectLst>
                  <a:outerShdw blurRad="38100" dist="38100" dir="2700000" algn="tl">
                    <a:srgbClr val="000000">
                      <a:alpha val="43137"/>
                    </a:srgbClr>
                  </a:outerShdw>
                </a:effectLst>
                <a:latin typeface="Sitka Text Semibold" pitchFamily="2" charset="0"/>
              </a:rPr>
              <a:t>Website Features</a:t>
            </a:r>
          </a:p>
        </p:txBody>
      </p:sp>
      <p:sp>
        <p:nvSpPr>
          <p:cNvPr id="5" name="Rectangle 1">
            <a:extLst>
              <a:ext uri="{FF2B5EF4-FFF2-40B4-BE49-F238E27FC236}">
                <a16:creationId xmlns:a16="http://schemas.microsoft.com/office/drawing/2014/main" id="{9A98D8FF-97CB-B420-2190-A64EA2C78A99}"/>
              </a:ext>
            </a:extLst>
          </p:cNvPr>
          <p:cNvSpPr>
            <a:spLocks noGrp="1" noChangeArrowheads="1"/>
          </p:cNvSpPr>
          <p:nvPr>
            <p:ph sz="quarter" idx="13"/>
          </p:nvPr>
        </p:nvSpPr>
        <p:spPr bwMode="auto">
          <a:xfrm>
            <a:off x="442452" y="1210835"/>
            <a:ext cx="1108758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pPr>
            <a:r>
              <a:rPr kumimoji="0" lang="en-US" altLang="en-US" sz="2400" b="1" i="0" u="sng" strike="noStrike" cap="none" normalizeH="0" baseline="0" dirty="0">
                <a:ln>
                  <a:noFill/>
                </a:ln>
                <a:solidFill>
                  <a:schemeClr val="tx1"/>
                </a:solidFill>
                <a:effectLst>
                  <a:outerShdw blurRad="38100" dist="38100" dir="2700000" algn="tl">
                    <a:srgbClr val="000000">
                      <a:alpha val="43137"/>
                    </a:srgbClr>
                  </a:outerShdw>
                </a:effectLst>
                <a:latin typeface="Sitka Text Semibold" pitchFamily="2" charset="0"/>
              </a:rPr>
              <a:t>Home Page</a:t>
            </a:r>
            <a:r>
              <a:rPr kumimoji="0" lang="en-US" altLang="en-US" sz="2400" b="0" i="0" u="none" strike="noStrike" cap="none" normalizeH="0" baseline="0" dirty="0">
                <a:ln>
                  <a:noFill/>
                </a:ln>
                <a:solidFill>
                  <a:schemeClr val="tx1"/>
                </a:solidFill>
                <a:effectLst/>
                <a:latin typeface="Sitka Text Semibold" pitchFamily="2" charset="0"/>
              </a:rPr>
              <a:t>: A welcoming introduction with a background image of a famous sea fort, showcasing Maharashtra's coastal beauty.</a:t>
            </a:r>
            <a:endParaRPr lang="en-US" altLang="en-US" sz="2400" cap="none" dirty="0">
              <a:latin typeface="Sitka Text Semibold" pitchFamily="2" charset="0"/>
            </a:endParaRPr>
          </a:p>
        </p:txBody>
      </p:sp>
      <p:sp>
        <p:nvSpPr>
          <p:cNvPr id="11" name="TextBox 10">
            <a:extLst>
              <a:ext uri="{FF2B5EF4-FFF2-40B4-BE49-F238E27FC236}">
                <a16:creationId xmlns:a16="http://schemas.microsoft.com/office/drawing/2014/main" id="{42027D69-B265-91CB-259B-E9DD1801EC3E}"/>
              </a:ext>
            </a:extLst>
          </p:cNvPr>
          <p:cNvSpPr txBox="1"/>
          <p:nvPr/>
        </p:nvSpPr>
        <p:spPr>
          <a:xfrm>
            <a:off x="442450" y="2228671"/>
            <a:ext cx="11087584" cy="1200329"/>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sng" strike="noStrike" cap="none" normalizeH="0" baseline="0" dirty="0">
                <a:ln>
                  <a:noFill/>
                </a:ln>
                <a:solidFill>
                  <a:schemeClr val="tx1"/>
                </a:solidFill>
                <a:effectLst>
                  <a:outerShdw blurRad="38100" dist="38100" dir="2700000" algn="tl">
                    <a:srgbClr val="000000">
                      <a:alpha val="43137"/>
                    </a:srgbClr>
                  </a:outerShdw>
                </a:effectLst>
                <a:latin typeface="Sitka Text Semibold" pitchFamily="2" charset="0"/>
              </a:rPr>
              <a:t>Interactive Map</a:t>
            </a:r>
            <a:r>
              <a:rPr kumimoji="0" lang="en-US" altLang="en-US" sz="2400" b="0" i="0" u="none" strike="noStrike" cap="none" normalizeH="0" baseline="0" dirty="0">
                <a:ln>
                  <a:noFill/>
                </a:ln>
                <a:solidFill>
                  <a:schemeClr val="tx1"/>
                </a:solidFill>
                <a:effectLst/>
                <a:latin typeface="Sitka Text Semibold" pitchFamily="2" charset="0"/>
              </a:rPr>
              <a:t>: A clickable map of Maharashtra highlighting the location of major sea forts like Sindhudurg, </a:t>
            </a:r>
            <a:r>
              <a:rPr kumimoji="0" lang="en-US" altLang="en-US" sz="2400" b="0" i="0" u="none" strike="noStrike" cap="none" normalizeH="0" baseline="0" dirty="0" err="1">
                <a:ln>
                  <a:noFill/>
                </a:ln>
                <a:solidFill>
                  <a:schemeClr val="tx1"/>
                </a:solidFill>
                <a:effectLst/>
                <a:latin typeface="Sitka Text Semibold" pitchFamily="2" charset="0"/>
              </a:rPr>
              <a:t>Vijaydurg</a:t>
            </a:r>
            <a:r>
              <a:rPr kumimoji="0" lang="en-US" altLang="en-US" sz="2400" b="0" i="0" u="none" strike="noStrike" cap="none" normalizeH="0" baseline="0" dirty="0">
                <a:ln>
                  <a:noFill/>
                </a:ln>
                <a:solidFill>
                  <a:schemeClr val="tx1"/>
                </a:solidFill>
                <a:effectLst/>
                <a:latin typeface="Sitka Text Semibold" pitchFamily="2" charset="0"/>
              </a:rPr>
              <a:t>, </a:t>
            </a:r>
            <a:r>
              <a:rPr kumimoji="0" lang="en-US" altLang="en-US" sz="2400" b="0" i="0" u="none" strike="noStrike" cap="none" normalizeH="0" baseline="0" dirty="0" err="1">
                <a:ln>
                  <a:noFill/>
                </a:ln>
                <a:solidFill>
                  <a:schemeClr val="tx1"/>
                </a:solidFill>
                <a:effectLst/>
                <a:latin typeface="Sitka Text Semibold" pitchFamily="2" charset="0"/>
              </a:rPr>
              <a:t>Murud-Janjira</a:t>
            </a:r>
            <a:r>
              <a:rPr kumimoji="0" lang="en-US" altLang="en-US" sz="2400" b="0" i="0" u="none" strike="noStrike" cap="none" normalizeH="0" baseline="0" dirty="0">
                <a:ln>
                  <a:noFill/>
                </a:ln>
                <a:solidFill>
                  <a:schemeClr val="tx1"/>
                </a:solidFill>
                <a:effectLst/>
                <a:latin typeface="Sitka Text Semibold" pitchFamily="2" charset="0"/>
              </a:rPr>
              <a:t>, and more.</a:t>
            </a:r>
          </a:p>
        </p:txBody>
      </p:sp>
      <p:sp>
        <p:nvSpPr>
          <p:cNvPr id="12" name="TextBox 11">
            <a:extLst>
              <a:ext uri="{FF2B5EF4-FFF2-40B4-BE49-F238E27FC236}">
                <a16:creationId xmlns:a16="http://schemas.microsoft.com/office/drawing/2014/main" id="{1E5AD9BD-083B-4D88-7331-16BB9E3F925B}"/>
              </a:ext>
            </a:extLst>
          </p:cNvPr>
          <p:cNvSpPr txBox="1"/>
          <p:nvPr/>
        </p:nvSpPr>
        <p:spPr>
          <a:xfrm>
            <a:off x="442450" y="3489899"/>
            <a:ext cx="11002406" cy="830997"/>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b="1" u="sng" dirty="0">
                <a:effectLst>
                  <a:outerShdw blurRad="38100" dist="38100" dir="2700000" algn="tl">
                    <a:srgbClr val="000000">
                      <a:alpha val="43137"/>
                    </a:srgbClr>
                  </a:outerShdw>
                </a:effectLst>
                <a:latin typeface="Sitka Text Semibold" pitchFamily="2" charset="0"/>
              </a:rPr>
              <a:t>Gallery</a:t>
            </a:r>
            <a:r>
              <a:rPr lang="en-US" sz="2400" dirty="0">
                <a:latin typeface="Sitka Text Semibold" pitchFamily="2" charset="0"/>
              </a:rPr>
              <a:t>: A collection of high-quality images and drone views of the forts.</a:t>
            </a:r>
          </a:p>
        </p:txBody>
      </p:sp>
      <p:sp>
        <p:nvSpPr>
          <p:cNvPr id="13" name="TextBox 12">
            <a:extLst>
              <a:ext uri="{FF2B5EF4-FFF2-40B4-BE49-F238E27FC236}">
                <a16:creationId xmlns:a16="http://schemas.microsoft.com/office/drawing/2014/main" id="{A0EE6455-3B2F-8CD1-C7FB-12BD3561CE01}"/>
              </a:ext>
            </a:extLst>
          </p:cNvPr>
          <p:cNvSpPr txBox="1"/>
          <p:nvPr/>
        </p:nvSpPr>
        <p:spPr>
          <a:xfrm>
            <a:off x="481278" y="4549515"/>
            <a:ext cx="11087584" cy="830997"/>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b="1" u="sng" dirty="0">
                <a:effectLst>
                  <a:outerShdw blurRad="38100" dist="38100" dir="2700000" algn="tl">
                    <a:srgbClr val="000000">
                      <a:alpha val="43137"/>
                    </a:srgbClr>
                  </a:outerShdw>
                </a:effectLst>
                <a:latin typeface="Sitka Text Semibold" pitchFamily="2" charset="0"/>
              </a:rPr>
              <a:t>Video Section</a:t>
            </a:r>
            <a:r>
              <a:rPr lang="en-US" sz="2400" dirty="0">
                <a:latin typeface="Sitka Text Semibold" pitchFamily="2" charset="0"/>
              </a:rPr>
              <a:t>: Embedded documentaries of short videos about Maratha naval power and fort construction.</a:t>
            </a:r>
          </a:p>
        </p:txBody>
      </p:sp>
      <p:sp>
        <p:nvSpPr>
          <p:cNvPr id="15" name="TextBox 14">
            <a:extLst>
              <a:ext uri="{FF2B5EF4-FFF2-40B4-BE49-F238E27FC236}">
                <a16:creationId xmlns:a16="http://schemas.microsoft.com/office/drawing/2014/main" id="{98A7BA24-C1C8-5842-29C5-907556240595}"/>
              </a:ext>
            </a:extLst>
          </p:cNvPr>
          <p:cNvSpPr txBox="1"/>
          <p:nvPr/>
        </p:nvSpPr>
        <p:spPr>
          <a:xfrm>
            <a:off x="485204" y="5647165"/>
            <a:ext cx="10916897" cy="830997"/>
          </a:xfrm>
          <a:prstGeom prst="rect">
            <a:avLst/>
          </a:prstGeom>
          <a:noFill/>
        </p:spPr>
        <p:txBody>
          <a:bodyPr wrap="square" rtlCol="0">
            <a:spAutoFit/>
          </a:bodyPr>
          <a:lstStyle/>
          <a:p>
            <a:pPr marL="342900" indent="-342900">
              <a:buFont typeface="Arial" panose="020B0604020202020204" pitchFamily="34" charset="0"/>
              <a:buChar char="•"/>
            </a:pPr>
            <a:r>
              <a:rPr lang="en-US" sz="2400" b="1" u="sng" dirty="0">
                <a:effectLst>
                  <a:outerShdw blurRad="38100" dist="38100" dir="2700000" algn="tl">
                    <a:srgbClr val="000000">
                      <a:alpha val="43137"/>
                    </a:srgbClr>
                  </a:outerShdw>
                </a:effectLst>
                <a:latin typeface="Sitka Text Semibold" pitchFamily="2" charset="0"/>
              </a:rPr>
              <a:t>About Us</a:t>
            </a:r>
            <a:r>
              <a:rPr lang="en-US" sz="2400" dirty="0">
                <a:latin typeface="Sitka Text Semibold" pitchFamily="2" charset="0"/>
              </a:rPr>
              <a:t>: A page where visitors can see the short information about website.</a:t>
            </a:r>
            <a:endParaRPr kumimoji="0" lang="en-US" altLang="en-US" sz="2400" b="0" i="0" u="none" strike="noStrike" cap="none" normalizeH="0" baseline="0" dirty="0">
              <a:ln>
                <a:noFill/>
              </a:ln>
              <a:solidFill>
                <a:schemeClr val="tx1"/>
              </a:solidFill>
              <a:effectLst/>
              <a:latin typeface="Sitka Text Semibold" pitchFamily="2" charset="0"/>
            </a:endParaRPr>
          </a:p>
        </p:txBody>
      </p:sp>
    </p:spTree>
    <p:extLst>
      <p:ext uri="{BB962C8B-B14F-4D97-AF65-F5344CB8AC3E}">
        <p14:creationId xmlns:p14="http://schemas.microsoft.com/office/powerpoint/2010/main" val="59058639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randombar(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randombar(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randombar(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randombar(horizontal)">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11" grpId="0"/>
      <p:bldP spid="12" grpId="0"/>
      <p:bldP spid="1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6C6C69-5292-303A-55CD-EDCB2C1FCD93}"/>
              </a:ext>
            </a:extLst>
          </p:cNvPr>
          <p:cNvSpPr txBox="1"/>
          <p:nvPr/>
        </p:nvSpPr>
        <p:spPr>
          <a:xfrm>
            <a:off x="579120" y="802640"/>
            <a:ext cx="11104880" cy="5016758"/>
          </a:xfrm>
          <a:prstGeom prst="rect">
            <a:avLst/>
          </a:prstGeom>
          <a:noFill/>
        </p:spPr>
        <p:txBody>
          <a:bodyPr wrap="square" rtlCol="0">
            <a:spAutoFit/>
          </a:bodyPr>
          <a:lstStyle/>
          <a:p>
            <a:pPr>
              <a:buNone/>
            </a:pPr>
            <a:r>
              <a:rPr lang="en-US" sz="3200" b="1" dirty="0">
                <a:effectLst>
                  <a:outerShdw blurRad="38100" dist="38100" dir="2700000" algn="tl">
                    <a:srgbClr val="000000">
                      <a:alpha val="43137"/>
                    </a:srgbClr>
                  </a:outerShdw>
                </a:effectLst>
                <a:latin typeface="Sitka Text Semibold" pitchFamily="2" charset="0"/>
              </a:rPr>
              <a:t>	</a:t>
            </a:r>
            <a:r>
              <a:rPr lang="en-US" sz="3200" b="1" u="sng" dirty="0">
                <a:effectLst>
                  <a:outerShdw blurRad="38100" dist="38100" dir="2700000" algn="tl">
                    <a:srgbClr val="000000">
                      <a:alpha val="43137"/>
                    </a:srgbClr>
                  </a:outerShdw>
                </a:effectLst>
                <a:latin typeface="Sitka Text Semibold" pitchFamily="2" charset="0"/>
              </a:rPr>
              <a:t>Forts Details</a:t>
            </a:r>
            <a:r>
              <a:rPr lang="en-US" sz="3200" dirty="0">
                <a:latin typeface="Sitka Text Semibold" pitchFamily="2" charset="0"/>
              </a:rPr>
              <a:t>: </a:t>
            </a:r>
          </a:p>
          <a:p>
            <a:pPr marL="457200" indent="-457200">
              <a:buFont typeface="Arial" panose="020B0604020202020204" pitchFamily="34" charset="0"/>
              <a:buChar char="•"/>
            </a:pPr>
            <a:r>
              <a:rPr lang="en-US" sz="3200" dirty="0">
                <a:latin typeface="Sitka Text Semibold" pitchFamily="2" charset="0"/>
              </a:rPr>
              <a:t>Separate pages for each fort with detailed content including:</a:t>
            </a:r>
          </a:p>
          <a:p>
            <a:pPr>
              <a:buNone/>
            </a:pPr>
            <a:endParaRPr lang="en-US" sz="3200" dirty="0">
              <a:latin typeface="Sitka Text Semibold" pitchFamily="2" charset="0"/>
            </a:endParaRPr>
          </a:p>
          <a:p>
            <a:pPr marL="457200" indent="-457200">
              <a:buFont typeface="Arial" panose="020B0604020202020204" pitchFamily="34" charset="0"/>
              <a:buChar char="•"/>
            </a:pPr>
            <a:r>
              <a:rPr lang="en-US" sz="3200" dirty="0">
                <a:latin typeface="Sitka Text Semibold" pitchFamily="2" charset="0"/>
              </a:rPr>
              <a:t>History of the fort</a:t>
            </a:r>
          </a:p>
          <a:p>
            <a:pPr>
              <a:buFont typeface="Arial" panose="020B0604020202020204" pitchFamily="34" charset="0"/>
              <a:buChar char="•"/>
            </a:pPr>
            <a:r>
              <a:rPr lang="en-US" sz="3200" dirty="0">
                <a:latin typeface="Sitka Text Semibold" pitchFamily="2" charset="0"/>
              </a:rPr>
              <a:t>   Year of construction and ruler who built it</a:t>
            </a:r>
          </a:p>
          <a:p>
            <a:pPr>
              <a:buFont typeface="Arial" panose="020B0604020202020204" pitchFamily="34" charset="0"/>
              <a:buChar char="•"/>
            </a:pPr>
            <a:r>
              <a:rPr lang="en-US" sz="3200" dirty="0">
                <a:latin typeface="Sitka Text Semibold" pitchFamily="2" charset="0"/>
              </a:rPr>
              <a:t>   Strategic significance</a:t>
            </a:r>
          </a:p>
          <a:p>
            <a:pPr>
              <a:buFont typeface="Arial" panose="020B0604020202020204" pitchFamily="34" charset="0"/>
              <a:buChar char="•"/>
            </a:pPr>
            <a:r>
              <a:rPr lang="en-US" sz="3200" dirty="0">
                <a:latin typeface="Sitka Text Semibold" pitchFamily="2" charset="0"/>
              </a:rPr>
              <a:t>   Architectural details</a:t>
            </a:r>
          </a:p>
          <a:p>
            <a:pPr>
              <a:buFont typeface="Arial" panose="020B0604020202020204" pitchFamily="34" charset="0"/>
              <a:buChar char="•"/>
            </a:pPr>
            <a:r>
              <a:rPr lang="en-US" sz="3200" dirty="0">
                <a:latin typeface="Sitka Text Semibold" pitchFamily="2" charset="0"/>
              </a:rPr>
              <a:t>  Current condition and tourist information</a:t>
            </a:r>
          </a:p>
          <a:p>
            <a:endParaRPr lang="en-IN" sz="3200" dirty="0">
              <a:latin typeface="Sitka Text Semibold" pitchFamily="2" charset="0"/>
            </a:endParaRPr>
          </a:p>
        </p:txBody>
      </p:sp>
    </p:spTree>
    <p:extLst>
      <p:ext uri="{BB962C8B-B14F-4D97-AF65-F5344CB8AC3E}">
        <p14:creationId xmlns:p14="http://schemas.microsoft.com/office/powerpoint/2010/main" val="222242124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4354-9DA4-3C8A-01D9-BEF20FCCD055}"/>
              </a:ext>
            </a:extLst>
          </p:cNvPr>
          <p:cNvSpPr>
            <a:spLocks noGrp="1"/>
          </p:cNvSpPr>
          <p:nvPr>
            <p:ph type="title"/>
          </p:nvPr>
        </p:nvSpPr>
        <p:spPr/>
        <p:txBody>
          <a:bodyPr>
            <a:normAutofit/>
          </a:bodyPr>
          <a:lstStyle/>
          <a:p>
            <a:r>
              <a:rPr lang="en-IN" sz="4400" u="sng" dirty="0">
                <a:effectLst>
                  <a:outerShdw blurRad="38100" dist="38100" dir="2700000" algn="tl">
                    <a:srgbClr val="000000">
                      <a:alpha val="43137"/>
                    </a:srgbClr>
                  </a:outerShdw>
                </a:effectLst>
                <a:latin typeface="Sitka Text Semibold" pitchFamily="2" charset="0"/>
              </a:rPr>
              <a:t>Target Audience</a:t>
            </a:r>
          </a:p>
        </p:txBody>
      </p:sp>
      <p:sp>
        <p:nvSpPr>
          <p:cNvPr id="3" name="Content Placeholder 2">
            <a:extLst>
              <a:ext uri="{FF2B5EF4-FFF2-40B4-BE49-F238E27FC236}">
                <a16:creationId xmlns:a16="http://schemas.microsoft.com/office/drawing/2014/main" id="{24E77861-DC2C-B14B-63DE-982945AB4D48}"/>
              </a:ext>
            </a:extLst>
          </p:cNvPr>
          <p:cNvSpPr>
            <a:spLocks noGrp="1"/>
          </p:cNvSpPr>
          <p:nvPr>
            <p:ph sz="quarter" idx="13"/>
          </p:nvPr>
        </p:nvSpPr>
        <p:spPr>
          <a:xfrm>
            <a:off x="914400" y="2362942"/>
            <a:ext cx="10363826" cy="589468"/>
          </a:xfrm>
        </p:spPr>
        <p:txBody>
          <a:bodyPr>
            <a:normAutofit/>
          </a:bodyPr>
          <a:lstStyle/>
          <a:p>
            <a:r>
              <a:rPr lang="en-US" sz="2800" cap="none" dirty="0">
                <a:latin typeface="Sitka Text Semibold" pitchFamily="2" charset="0"/>
              </a:rPr>
              <a:t>   Students studying history or architecture</a:t>
            </a:r>
          </a:p>
        </p:txBody>
      </p:sp>
      <p:sp>
        <p:nvSpPr>
          <p:cNvPr id="4" name="TextBox 3">
            <a:extLst>
              <a:ext uri="{FF2B5EF4-FFF2-40B4-BE49-F238E27FC236}">
                <a16:creationId xmlns:a16="http://schemas.microsoft.com/office/drawing/2014/main" id="{4A87125A-553F-8260-EBC5-55C8AADB49FC}"/>
              </a:ext>
            </a:extLst>
          </p:cNvPr>
          <p:cNvSpPr txBox="1"/>
          <p:nvPr/>
        </p:nvSpPr>
        <p:spPr>
          <a:xfrm>
            <a:off x="913775" y="3115157"/>
            <a:ext cx="10576560" cy="800219"/>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itka Text Semibold" pitchFamily="2" charset="0"/>
              </a:rPr>
              <a:t>Tourists planning to explore Maharashtra’s heritage sites</a:t>
            </a:r>
          </a:p>
          <a:p>
            <a:pPr marL="285750" indent="-285750" algn="ctr">
              <a:buFont typeface="Arial" panose="020B0604020202020204" pitchFamily="34" charset="0"/>
              <a:buChar char="•"/>
            </a:pPr>
            <a:endParaRPr lang="en-US" sz="1800" dirty="0">
              <a:latin typeface="Sitka Text Semibold" pitchFamily="2" charset="0"/>
            </a:endParaRPr>
          </a:p>
        </p:txBody>
      </p:sp>
      <p:sp>
        <p:nvSpPr>
          <p:cNvPr id="5" name="TextBox 4">
            <a:extLst>
              <a:ext uri="{FF2B5EF4-FFF2-40B4-BE49-F238E27FC236}">
                <a16:creationId xmlns:a16="http://schemas.microsoft.com/office/drawing/2014/main" id="{CD0AADB4-90B5-1F5D-DF73-984253C7AD52}"/>
              </a:ext>
            </a:extLst>
          </p:cNvPr>
          <p:cNvSpPr txBox="1"/>
          <p:nvPr/>
        </p:nvSpPr>
        <p:spPr>
          <a:xfrm>
            <a:off x="913775" y="3863221"/>
            <a:ext cx="778318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itka Text Semibold" pitchFamily="2" charset="0"/>
              </a:rPr>
              <a:t>History researchers and educators</a:t>
            </a:r>
          </a:p>
        </p:txBody>
      </p:sp>
      <p:sp>
        <p:nvSpPr>
          <p:cNvPr id="6" name="TextBox 5">
            <a:extLst>
              <a:ext uri="{FF2B5EF4-FFF2-40B4-BE49-F238E27FC236}">
                <a16:creationId xmlns:a16="http://schemas.microsoft.com/office/drawing/2014/main" id="{141AA666-8060-3CC5-7660-6857050973A3}"/>
              </a:ext>
            </a:extLst>
          </p:cNvPr>
          <p:cNvSpPr txBox="1"/>
          <p:nvPr/>
        </p:nvSpPr>
        <p:spPr>
          <a:xfrm>
            <a:off x="913775" y="4653278"/>
            <a:ext cx="10576560"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itka Text Semibold" pitchFamily="2" charset="0"/>
              </a:rPr>
              <a:t>General public interested in Indian maritime history</a:t>
            </a:r>
          </a:p>
        </p:txBody>
      </p:sp>
    </p:spTree>
    <p:extLst>
      <p:ext uri="{BB962C8B-B14F-4D97-AF65-F5344CB8AC3E}">
        <p14:creationId xmlns:p14="http://schemas.microsoft.com/office/powerpoint/2010/main" val="4678264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87C64E-EEE6-4187-5912-01AF05BD471A}"/>
              </a:ext>
            </a:extLst>
          </p:cNvPr>
          <p:cNvPicPr>
            <a:picLocks noChangeAspect="1"/>
          </p:cNvPicPr>
          <p:nvPr/>
        </p:nvPicPr>
        <p:blipFill>
          <a:blip r:embed="rId2">
            <a:extLst>
              <a:ext uri="{28A0092B-C50C-407E-A947-70E740481C1C}">
                <a14:useLocalDpi xmlns:a14="http://schemas.microsoft.com/office/drawing/2010/main" val="0"/>
              </a:ext>
            </a:extLst>
          </a:blip>
          <a:srcRect l="-1465" t="1756" r="-368" b="2497"/>
          <a:stretch/>
        </p:blipFill>
        <p:spPr>
          <a:xfrm>
            <a:off x="1061885" y="1199716"/>
            <a:ext cx="8180438" cy="4424335"/>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A819CE80-E531-BD68-CDFE-9DF80E32AF23}"/>
              </a:ext>
            </a:extLst>
          </p:cNvPr>
          <p:cNvSpPr txBox="1"/>
          <p:nvPr/>
        </p:nvSpPr>
        <p:spPr>
          <a:xfrm>
            <a:off x="1406014" y="137651"/>
            <a:ext cx="9940412" cy="769441"/>
          </a:xfrm>
          <a:prstGeom prst="rect">
            <a:avLst/>
          </a:prstGeom>
          <a:noFill/>
        </p:spPr>
        <p:txBody>
          <a:bodyPr wrap="square" rtlCol="0">
            <a:spAutoFit/>
          </a:bodyPr>
          <a:lstStyle/>
          <a:p>
            <a:r>
              <a:rPr lang="en-IN" sz="4400" u="sng" dirty="0">
                <a:effectLst>
                  <a:outerShdw blurRad="38100" dist="38100" dir="2700000" algn="tl">
                    <a:srgbClr val="000000">
                      <a:alpha val="43137"/>
                    </a:srgbClr>
                  </a:outerShdw>
                </a:effectLst>
                <a:latin typeface="Sitka Text Semibold" pitchFamily="2" charset="0"/>
              </a:rPr>
              <a:t>ERD(Entity Relationship Diagram)</a:t>
            </a:r>
          </a:p>
        </p:txBody>
      </p:sp>
      <p:pic>
        <p:nvPicPr>
          <p:cNvPr id="5" name="Picture 4">
            <a:extLst>
              <a:ext uri="{FF2B5EF4-FFF2-40B4-BE49-F238E27FC236}">
                <a16:creationId xmlns:a16="http://schemas.microsoft.com/office/drawing/2014/main" id="{1F8F06AB-933D-1E5F-3E0E-D51C35E6AF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027" y="4058265"/>
            <a:ext cx="6685935" cy="2499851"/>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7888386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80">
                                          <p:stCondLst>
                                            <p:cond delay="0"/>
                                          </p:stCondLst>
                                        </p:cTn>
                                        <p:tgtEl>
                                          <p:spTgt spid="5"/>
                                        </p:tgtEl>
                                      </p:cBhvr>
                                    </p:animEffect>
                                    <p:anim calcmode="lin" valueType="num">
                                      <p:cBhvr>
                                        <p:cTn id="1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8" dur="26">
                                          <p:stCondLst>
                                            <p:cond delay="650"/>
                                          </p:stCondLst>
                                        </p:cTn>
                                        <p:tgtEl>
                                          <p:spTgt spid="5"/>
                                        </p:tgtEl>
                                      </p:cBhvr>
                                      <p:to x="100000" y="60000"/>
                                    </p:animScale>
                                    <p:animScale>
                                      <p:cBhvr>
                                        <p:cTn id="19" dur="166" decel="50000">
                                          <p:stCondLst>
                                            <p:cond delay="676"/>
                                          </p:stCondLst>
                                        </p:cTn>
                                        <p:tgtEl>
                                          <p:spTgt spid="5"/>
                                        </p:tgtEl>
                                      </p:cBhvr>
                                      <p:to x="100000" y="100000"/>
                                    </p:animScale>
                                    <p:animScale>
                                      <p:cBhvr>
                                        <p:cTn id="20" dur="26">
                                          <p:stCondLst>
                                            <p:cond delay="1312"/>
                                          </p:stCondLst>
                                        </p:cTn>
                                        <p:tgtEl>
                                          <p:spTgt spid="5"/>
                                        </p:tgtEl>
                                      </p:cBhvr>
                                      <p:to x="100000" y="80000"/>
                                    </p:animScale>
                                    <p:animScale>
                                      <p:cBhvr>
                                        <p:cTn id="21" dur="166" decel="50000">
                                          <p:stCondLst>
                                            <p:cond delay="1338"/>
                                          </p:stCondLst>
                                        </p:cTn>
                                        <p:tgtEl>
                                          <p:spTgt spid="5"/>
                                        </p:tgtEl>
                                      </p:cBhvr>
                                      <p:to x="100000" y="100000"/>
                                    </p:animScale>
                                    <p:animScale>
                                      <p:cBhvr>
                                        <p:cTn id="22" dur="26">
                                          <p:stCondLst>
                                            <p:cond delay="1642"/>
                                          </p:stCondLst>
                                        </p:cTn>
                                        <p:tgtEl>
                                          <p:spTgt spid="5"/>
                                        </p:tgtEl>
                                      </p:cBhvr>
                                      <p:to x="100000" y="90000"/>
                                    </p:animScale>
                                    <p:animScale>
                                      <p:cBhvr>
                                        <p:cTn id="23" dur="166" decel="50000">
                                          <p:stCondLst>
                                            <p:cond delay="1668"/>
                                          </p:stCondLst>
                                        </p:cTn>
                                        <p:tgtEl>
                                          <p:spTgt spid="5"/>
                                        </p:tgtEl>
                                      </p:cBhvr>
                                      <p:to x="100000" y="100000"/>
                                    </p:animScale>
                                    <p:animScale>
                                      <p:cBhvr>
                                        <p:cTn id="24" dur="26">
                                          <p:stCondLst>
                                            <p:cond delay="1808"/>
                                          </p:stCondLst>
                                        </p:cTn>
                                        <p:tgtEl>
                                          <p:spTgt spid="5"/>
                                        </p:tgtEl>
                                      </p:cBhvr>
                                      <p:to x="100000" y="95000"/>
                                    </p:animScale>
                                    <p:animScale>
                                      <p:cBhvr>
                                        <p:cTn id="25" dur="166" decel="50000">
                                          <p:stCondLst>
                                            <p:cond delay="1834"/>
                                          </p:stCondLst>
                                        </p:cTn>
                                        <p:tgtEl>
                                          <p:spTgt spid="5"/>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80">
                                          <p:stCondLst>
                                            <p:cond delay="0"/>
                                          </p:stCondLst>
                                        </p:cTn>
                                        <p:tgtEl>
                                          <p:spTgt spid="3"/>
                                        </p:tgtEl>
                                      </p:cBhvr>
                                    </p:animEffect>
                                    <p:anim calcmode="lin" valueType="num">
                                      <p:cBhvr>
                                        <p:cTn id="31"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gtEl>
                                      </p:cBhvr>
                                      <p:to x="100000" y="60000"/>
                                    </p:animScale>
                                    <p:animScale>
                                      <p:cBhvr>
                                        <p:cTn id="37" dur="166" decel="50000">
                                          <p:stCondLst>
                                            <p:cond delay="676"/>
                                          </p:stCondLst>
                                        </p:cTn>
                                        <p:tgtEl>
                                          <p:spTgt spid="3"/>
                                        </p:tgtEl>
                                      </p:cBhvr>
                                      <p:to x="100000" y="100000"/>
                                    </p:animScale>
                                    <p:animScale>
                                      <p:cBhvr>
                                        <p:cTn id="38" dur="26">
                                          <p:stCondLst>
                                            <p:cond delay="1312"/>
                                          </p:stCondLst>
                                        </p:cTn>
                                        <p:tgtEl>
                                          <p:spTgt spid="3"/>
                                        </p:tgtEl>
                                      </p:cBhvr>
                                      <p:to x="100000" y="80000"/>
                                    </p:animScale>
                                    <p:animScale>
                                      <p:cBhvr>
                                        <p:cTn id="39" dur="166" decel="50000">
                                          <p:stCondLst>
                                            <p:cond delay="1338"/>
                                          </p:stCondLst>
                                        </p:cTn>
                                        <p:tgtEl>
                                          <p:spTgt spid="3"/>
                                        </p:tgtEl>
                                      </p:cBhvr>
                                      <p:to x="100000" y="100000"/>
                                    </p:animScale>
                                    <p:animScale>
                                      <p:cBhvr>
                                        <p:cTn id="40" dur="26">
                                          <p:stCondLst>
                                            <p:cond delay="1642"/>
                                          </p:stCondLst>
                                        </p:cTn>
                                        <p:tgtEl>
                                          <p:spTgt spid="3"/>
                                        </p:tgtEl>
                                      </p:cBhvr>
                                      <p:to x="100000" y="90000"/>
                                    </p:animScale>
                                    <p:animScale>
                                      <p:cBhvr>
                                        <p:cTn id="41" dur="166" decel="50000">
                                          <p:stCondLst>
                                            <p:cond delay="1668"/>
                                          </p:stCondLst>
                                        </p:cTn>
                                        <p:tgtEl>
                                          <p:spTgt spid="3"/>
                                        </p:tgtEl>
                                      </p:cBhvr>
                                      <p:to x="100000" y="100000"/>
                                    </p:animScale>
                                    <p:animScale>
                                      <p:cBhvr>
                                        <p:cTn id="42" dur="26">
                                          <p:stCondLst>
                                            <p:cond delay="1808"/>
                                          </p:stCondLst>
                                        </p:cTn>
                                        <p:tgtEl>
                                          <p:spTgt spid="3"/>
                                        </p:tgtEl>
                                      </p:cBhvr>
                                      <p:to x="100000" y="95000"/>
                                    </p:animScale>
                                    <p:animScale>
                                      <p:cBhvr>
                                        <p:cTn id="43"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BD0B3C-F5E0-8FDF-5E70-888BD91D838C}"/>
              </a:ext>
            </a:extLst>
          </p:cNvPr>
          <p:cNvSpPr txBox="1"/>
          <p:nvPr/>
        </p:nvSpPr>
        <p:spPr>
          <a:xfrm>
            <a:off x="3519948" y="245806"/>
            <a:ext cx="5152103" cy="769441"/>
          </a:xfrm>
          <a:prstGeom prst="rect">
            <a:avLst/>
          </a:prstGeom>
          <a:noFill/>
        </p:spPr>
        <p:txBody>
          <a:bodyPr wrap="square" rtlCol="0">
            <a:spAutoFit/>
          </a:bodyPr>
          <a:lstStyle/>
          <a:p>
            <a:r>
              <a:rPr lang="en-IN" sz="4400" u="sng" dirty="0">
                <a:effectLst>
                  <a:outerShdw blurRad="38100" dist="38100" dir="2700000" algn="tl">
                    <a:srgbClr val="000000">
                      <a:alpha val="43137"/>
                    </a:srgbClr>
                  </a:outerShdw>
                </a:effectLst>
                <a:latin typeface="Sitka Text Semibold" pitchFamily="2" charset="0"/>
              </a:rPr>
              <a:t>Context level DFD</a:t>
            </a:r>
          </a:p>
        </p:txBody>
      </p:sp>
      <p:pic>
        <p:nvPicPr>
          <p:cNvPr id="6" name="Picture 5">
            <a:extLst>
              <a:ext uri="{FF2B5EF4-FFF2-40B4-BE49-F238E27FC236}">
                <a16:creationId xmlns:a16="http://schemas.microsoft.com/office/drawing/2014/main" id="{F320FD09-AEB8-228D-ACF8-5E793027797B}"/>
              </a:ext>
            </a:extLst>
          </p:cNvPr>
          <p:cNvPicPr>
            <a:picLocks noChangeAspect="1"/>
          </p:cNvPicPr>
          <p:nvPr/>
        </p:nvPicPr>
        <p:blipFill>
          <a:blip r:embed="rId2">
            <a:extLst>
              <a:ext uri="{28A0092B-C50C-407E-A947-70E740481C1C}">
                <a14:useLocalDpi xmlns:a14="http://schemas.microsoft.com/office/drawing/2010/main" val="0"/>
              </a:ext>
            </a:extLst>
          </a:blip>
          <a:srcRect l="-604" t="-1319" r="-880" b="-1130"/>
          <a:stretch/>
        </p:blipFill>
        <p:spPr>
          <a:xfrm>
            <a:off x="1494504" y="1120877"/>
            <a:ext cx="9075174" cy="5348748"/>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52147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40A75-1E5E-A73A-8A76-EAD071C42C44}"/>
              </a:ext>
            </a:extLst>
          </p:cNvPr>
          <p:cNvSpPr txBox="1"/>
          <p:nvPr/>
        </p:nvSpPr>
        <p:spPr>
          <a:xfrm>
            <a:off x="791497" y="98321"/>
            <a:ext cx="10609006" cy="769441"/>
          </a:xfrm>
          <a:prstGeom prst="rect">
            <a:avLst/>
          </a:prstGeom>
          <a:noFill/>
        </p:spPr>
        <p:txBody>
          <a:bodyPr wrap="square" rtlCol="0">
            <a:spAutoFit/>
          </a:bodyPr>
          <a:lstStyle/>
          <a:p>
            <a:r>
              <a:rPr lang="en-US" sz="4400" u="sng" dirty="0">
                <a:effectLst>
                  <a:outerShdw blurRad="38100" dist="38100" dir="2700000" algn="tl">
                    <a:srgbClr val="000000">
                      <a:alpha val="43137"/>
                    </a:srgbClr>
                  </a:outerShdw>
                </a:effectLst>
                <a:latin typeface="Sitka Text Semibold" pitchFamily="2" charset="0"/>
              </a:rPr>
              <a:t>Screenshot of Major Pages of Website</a:t>
            </a:r>
            <a:endParaRPr lang="en-IN" sz="4400" u="sng" dirty="0">
              <a:effectLst>
                <a:outerShdw blurRad="38100" dist="38100" dir="2700000" algn="tl">
                  <a:srgbClr val="000000">
                    <a:alpha val="43137"/>
                  </a:srgbClr>
                </a:outerShdw>
              </a:effectLst>
              <a:latin typeface="Sitka Text Semibold" pitchFamily="2" charset="0"/>
            </a:endParaRPr>
          </a:p>
        </p:txBody>
      </p:sp>
      <p:pic>
        <p:nvPicPr>
          <p:cNvPr id="4" name="Picture 3">
            <a:extLst>
              <a:ext uri="{FF2B5EF4-FFF2-40B4-BE49-F238E27FC236}">
                <a16:creationId xmlns:a16="http://schemas.microsoft.com/office/drawing/2014/main" id="{B6F5AEFA-C5AC-AD19-285A-78926B264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495" y="973394"/>
            <a:ext cx="3140563" cy="5786285"/>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C2D29F6D-AD3F-892E-6D43-44AB16D1F0CA}"/>
              </a:ext>
            </a:extLst>
          </p:cNvPr>
          <p:cNvPicPr>
            <a:picLocks noChangeAspect="1"/>
          </p:cNvPicPr>
          <p:nvPr/>
        </p:nvPicPr>
        <p:blipFill>
          <a:blip r:embed="rId3">
            <a:extLst>
              <a:ext uri="{28A0092B-C50C-407E-A947-70E740481C1C}">
                <a14:useLocalDpi xmlns:a14="http://schemas.microsoft.com/office/drawing/2010/main" val="0"/>
              </a:ext>
            </a:extLst>
          </a:blip>
          <a:srcRect b="25305"/>
          <a:stretch/>
        </p:blipFill>
        <p:spPr>
          <a:xfrm>
            <a:off x="4375355" y="973394"/>
            <a:ext cx="3244645" cy="5786284"/>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BDED37AA-A156-0EFD-A6E3-66AA12DFA7FE}"/>
              </a:ext>
            </a:extLst>
          </p:cNvPr>
          <p:cNvPicPr>
            <a:picLocks noChangeAspect="1"/>
          </p:cNvPicPr>
          <p:nvPr/>
        </p:nvPicPr>
        <p:blipFill>
          <a:blip r:embed="rId4">
            <a:extLst>
              <a:ext uri="{28A0092B-C50C-407E-A947-70E740481C1C}">
                <a14:useLocalDpi xmlns:a14="http://schemas.microsoft.com/office/drawing/2010/main" val="0"/>
              </a:ext>
            </a:extLst>
          </a:blip>
          <a:srcRect b="19140"/>
          <a:stretch/>
        </p:blipFill>
        <p:spPr>
          <a:xfrm>
            <a:off x="8023123" y="973393"/>
            <a:ext cx="3244645" cy="57862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318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80">
                                          <p:stCondLst>
                                            <p:cond delay="0"/>
                                          </p:stCondLst>
                                        </p:cTn>
                                        <p:tgtEl>
                                          <p:spTgt spid="4"/>
                                        </p:tgtEl>
                                      </p:cBhvr>
                                    </p:animEffect>
                                    <p:anim calcmode="lin" valueType="num">
                                      <p:cBhvr>
                                        <p:cTn id="13"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8" dur="26">
                                          <p:stCondLst>
                                            <p:cond delay="650"/>
                                          </p:stCondLst>
                                        </p:cTn>
                                        <p:tgtEl>
                                          <p:spTgt spid="4"/>
                                        </p:tgtEl>
                                      </p:cBhvr>
                                      <p:to x="100000" y="60000"/>
                                    </p:animScale>
                                    <p:animScale>
                                      <p:cBhvr>
                                        <p:cTn id="19" dur="166" decel="50000">
                                          <p:stCondLst>
                                            <p:cond delay="676"/>
                                          </p:stCondLst>
                                        </p:cTn>
                                        <p:tgtEl>
                                          <p:spTgt spid="4"/>
                                        </p:tgtEl>
                                      </p:cBhvr>
                                      <p:to x="100000" y="100000"/>
                                    </p:animScale>
                                    <p:animScale>
                                      <p:cBhvr>
                                        <p:cTn id="20" dur="26">
                                          <p:stCondLst>
                                            <p:cond delay="1312"/>
                                          </p:stCondLst>
                                        </p:cTn>
                                        <p:tgtEl>
                                          <p:spTgt spid="4"/>
                                        </p:tgtEl>
                                      </p:cBhvr>
                                      <p:to x="100000" y="80000"/>
                                    </p:animScale>
                                    <p:animScale>
                                      <p:cBhvr>
                                        <p:cTn id="21" dur="166" decel="50000">
                                          <p:stCondLst>
                                            <p:cond delay="1338"/>
                                          </p:stCondLst>
                                        </p:cTn>
                                        <p:tgtEl>
                                          <p:spTgt spid="4"/>
                                        </p:tgtEl>
                                      </p:cBhvr>
                                      <p:to x="100000" y="100000"/>
                                    </p:animScale>
                                    <p:animScale>
                                      <p:cBhvr>
                                        <p:cTn id="22" dur="26">
                                          <p:stCondLst>
                                            <p:cond delay="1642"/>
                                          </p:stCondLst>
                                        </p:cTn>
                                        <p:tgtEl>
                                          <p:spTgt spid="4"/>
                                        </p:tgtEl>
                                      </p:cBhvr>
                                      <p:to x="100000" y="90000"/>
                                    </p:animScale>
                                    <p:animScale>
                                      <p:cBhvr>
                                        <p:cTn id="23" dur="166" decel="50000">
                                          <p:stCondLst>
                                            <p:cond delay="1668"/>
                                          </p:stCondLst>
                                        </p:cTn>
                                        <p:tgtEl>
                                          <p:spTgt spid="4"/>
                                        </p:tgtEl>
                                      </p:cBhvr>
                                      <p:to x="100000" y="100000"/>
                                    </p:animScale>
                                    <p:animScale>
                                      <p:cBhvr>
                                        <p:cTn id="24" dur="26">
                                          <p:stCondLst>
                                            <p:cond delay="1808"/>
                                          </p:stCondLst>
                                        </p:cTn>
                                        <p:tgtEl>
                                          <p:spTgt spid="4"/>
                                        </p:tgtEl>
                                      </p:cBhvr>
                                      <p:to x="100000" y="95000"/>
                                    </p:animScale>
                                    <p:animScale>
                                      <p:cBhvr>
                                        <p:cTn id="25" dur="166" decel="50000">
                                          <p:stCondLst>
                                            <p:cond delay="1834"/>
                                          </p:stCondLst>
                                        </p:cTn>
                                        <p:tgtEl>
                                          <p:spTgt spid="4"/>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80">
                                          <p:stCondLst>
                                            <p:cond delay="0"/>
                                          </p:stCondLst>
                                        </p:cTn>
                                        <p:tgtEl>
                                          <p:spTgt spid="6"/>
                                        </p:tgtEl>
                                      </p:cBhvr>
                                    </p:animEffect>
                                    <p:anim calcmode="lin" valueType="num">
                                      <p:cBhvr>
                                        <p:cTn id="31"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6" dur="26">
                                          <p:stCondLst>
                                            <p:cond delay="650"/>
                                          </p:stCondLst>
                                        </p:cTn>
                                        <p:tgtEl>
                                          <p:spTgt spid="6"/>
                                        </p:tgtEl>
                                      </p:cBhvr>
                                      <p:to x="100000" y="60000"/>
                                    </p:animScale>
                                    <p:animScale>
                                      <p:cBhvr>
                                        <p:cTn id="37" dur="166" decel="50000">
                                          <p:stCondLst>
                                            <p:cond delay="676"/>
                                          </p:stCondLst>
                                        </p:cTn>
                                        <p:tgtEl>
                                          <p:spTgt spid="6"/>
                                        </p:tgtEl>
                                      </p:cBhvr>
                                      <p:to x="100000" y="100000"/>
                                    </p:animScale>
                                    <p:animScale>
                                      <p:cBhvr>
                                        <p:cTn id="38" dur="26">
                                          <p:stCondLst>
                                            <p:cond delay="1312"/>
                                          </p:stCondLst>
                                        </p:cTn>
                                        <p:tgtEl>
                                          <p:spTgt spid="6"/>
                                        </p:tgtEl>
                                      </p:cBhvr>
                                      <p:to x="100000" y="80000"/>
                                    </p:animScale>
                                    <p:animScale>
                                      <p:cBhvr>
                                        <p:cTn id="39" dur="166" decel="50000">
                                          <p:stCondLst>
                                            <p:cond delay="1338"/>
                                          </p:stCondLst>
                                        </p:cTn>
                                        <p:tgtEl>
                                          <p:spTgt spid="6"/>
                                        </p:tgtEl>
                                      </p:cBhvr>
                                      <p:to x="100000" y="100000"/>
                                    </p:animScale>
                                    <p:animScale>
                                      <p:cBhvr>
                                        <p:cTn id="40" dur="26">
                                          <p:stCondLst>
                                            <p:cond delay="1642"/>
                                          </p:stCondLst>
                                        </p:cTn>
                                        <p:tgtEl>
                                          <p:spTgt spid="6"/>
                                        </p:tgtEl>
                                      </p:cBhvr>
                                      <p:to x="100000" y="90000"/>
                                    </p:animScale>
                                    <p:animScale>
                                      <p:cBhvr>
                                        <p:cTn id="41" dur="166" decel="50000">
                                          <p:stCondLst>
                                            <p:cond delay="1668"/>
                                          </p:stCondLst>
                                        </p:cTn>
                                        <p:tgtEl>
                                          <p:spTgt spid="6"/>
                                        </p:tgtEl>
                                      </p:cBhvr>
                                      <p:to x="100000" y="100000"/>
                                    </p:animScale>
                                    <p:animScale>
                                      <p:cBhvr>
                                        <p:cTn id="42" dur="26">
                                          <p:stCondLst>
                                            <p:cond delay="1808"/>
                                          </p:stCondLst>
                                        </p:cTn>
                                        <p:tgtEl>
                                          <p:spTgt spid="6"/>
                                        </p:tgtEl>
                                      </p:cBhvr>
                                      <p:to x="100000" y="95000"/>
                                    </p:animScale>
                                    <p:animScale>
                                      <p:cBhvr>
                                        <p:cTn id="43" dur="166" decel="50000">
                                          <p:stCondLst>
                                            <p:cond delay="1834"/>
                                          </p:stCondLst>
                                        </p:cTn>
                                        <p:tgtEl>
                                          <p:spTgt spid="6"/>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26" presetClass="entr" presetSubtype="0"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down)">
                                      <p:cBhvr>
                                        <p:cTn id="48" dur="580">
                                          <p:stCondLst>
                                            <p:cond delay="0"/>
                                          </p:stCondLst>
                                        </p:cTn>
                                        <p:tgtEl>
                                          <p:spTgt spid="8"/>
                                        </p:tgtEl>
                                      </p:cBhvr>
                                    </p:animEffect>
                                    <p:anim calcmode="lin" valueType="num">
                                      <p:cBhvr>
                                        <p:cTn id="49"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4" dur="26">
                                          <p:stCondLst>
                                            <p:cond delay="650"/>
                                          </p:stCondLst>
                                        </p:cTn>
                                        <p:tgtEl>
                                          <p:spTgt spid="8"/>
                                        </p:tgtEl>
                                      </p:cBhvr>
                                      <p:to x="100000" y="60000"/>
                                    </p:animScale>
                                    <p:animScale>
                                      <p:cBhvr>
                                        <p:cTn id="55" dur="166" decel="50000">
                                          <p:stCondLst>
                                            <p:cond delay="676"/>
                                          </p:stCondLst>
                                        </p:cTn>
                                        <p:tgtEl>
                                          <p:spTgt spid="8"/>
                                        </p:tgtEl>
                                      </p:cBhvr>
                                      <p:to x="100000" y="100000"/>
                                    </p:animScale>
                                    <p:animScale>
                                      <p:cBhvr>
                                        <p:cTn id="56" dur="26">
                                          <p:stCondLst>
                                            <p:cond delay="1312"/>
                                          </p:stCondLst>
                                        </p:cTn>
                                        <p:tgtEl>
                                          <p:spTgt spid="8"/>
                                        </p:tgtEl>
                                      </p:cBhvr>
                                      <p:to x="100000" y="80000"/>
                                    </p:animScale>
                                    <p:animScale>
                                      <p:cBhvr>
                                        <p:cTn id="57" dur="166" decel="50000">
                                          <p:stCondLst>
                                            <p:cond delay="1338"/>
                                          </p:stCondLst>
                                        </p:cTn>
                                        <p:tgtEl>
                                          <p:spTgt spid="8"/>
                                        </p:tgtEl>
                                      </p:cBhvr>
                                      <p:to x="100000" y="100000"/>
                                    </p:animScale>
                                    <p:animScale>
                                      <p:cBhvr>
                                        <p:cTn id="58" dur="26">
                                          <p:stCondLst>
                                            <p:cond delay="1642"/>
                                          </p:stCondLst>
                                        </p:cTn>
                                        <p:tgtEl>
                                          <p:spTgt spid="8"/>
                                        </p:tgtEl>
                                      </p:cBhvr>
                                      <p:to x="100000" y="90000"/>
                                    </p:animScale>
                                    <p:animScale>
                                      <p:cBhvr>
                                        <p:cTn id="59" dur="166" decel="50000">
                                          <p:stCondLst>
                                            <p:cond delay="1668"/>
                                          </p:stCondLst>
                                        </p:cTn>
                                        <p:tgtEl>
                                          <p:spTgt spid="8"/>
                                        </p:tgtEl>
                                      </p:cBhvr>
                                      <p:to x="100000" y="100000"/>
                                    </p:animScale>
                                    <p:animScale>
                                      <p:cBhvr>
                                        <p:cTn id="60" dur="26">
                                          <p:stCondLst>
                                            <p:cond delay="1808"/>
                                          </p:stCondLst>
                                        </p:cTn>
                                        <p:tgtEl>
                                          <p:spTgt spid="8"/>
                                        </p:tgtEl>
                                      </p:cBhvr>
                                      <p:to x="100000" y="95000"/>
                                    </p:animScale>
                                    <p:animScale>
                                      <p:cBhvr>
                                        <p:cTn id="61"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A97659-060C-9F6A-C7C1-7473EB7C6C93}"/>
              </a:ext>
            </a:extLst>
          </p:cNvPr>
          <p:cNvSpPr txBox="1"/>
          <p:nvPr/>
        </p:nvSpPr>
        <p:spPr>
          <a:xfrm>
            <a:off x="3633019" y="1573161"/>
            <a:ext cx="4925961" cy="3046988"/>
          </a:xfrm>
          <a:prstGeom prst="rect">
            <a:avLst/>
          </a:prstGeom>
          <a:noFill/>
        </p:spPr>
        <p:txBody>
          <a:bodyPr wrap="square" rtlCol="0">
            <a:spAutoFit/>
          </a:bodyPr>
          <a:lstStyle/>
          <a:p>
            <a:pPr algn="ctr"/>
            <a:r>
              <a:rPr lang="en-US" sz="9600" dirty="0">
                <a:latin typeface="Sitka Small Semibold" pitchFamily="2" charset="0"/>
              </a:rPr>
              <a:t>THANK </a:t>
            </a:r>
          </a:p>
          <a:p>
            <a:pPr algn="ctr"/>
            <a:r>
              <a:rPr lang="en-US" sz="9600" dirty="0">
                <a:latin typeface="Sitka Small Semibold" pitchFamily="2" charset="0"/>
              </a:rPr>
              <a:t>YOU</a:t>
            </a:r>
            <a:endParaRPr lang="en-IN" sz="9600" dirty="0">
              <a:latin typeface="Sitka Small Semibold" pitchFamily="2" charset="0"/>
            </a:endParaRPr>
          </a:p>
        </p:txBody>
      </p:sp>
    </p:spTree>
    <p:extLst>
      <p:ext uri="{BB962C8B-B14F-4D97-AF65-F5344CB8AC3E}">
        <p14:creationId xmlns:p14="http://schemas.microsoft.com/office/powerpoint/2010/main" val="18848553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73ECE56-2F71-49AC-A1F0-119DA6D1457E}">
  <we:reference id="wa200003052" version="6.0.0.0" store="en-US" storeType="OMEX"/>
  <we:alternateReferences>
    <we:reference id="wa200003052" version="6.0.0.0" store="wa20000305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Droplet</Template>
  <TotalTime>383</TotalTime>
  <Words>312</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Sitka Small Semibold</vt:lpstr>
      <vt:lpstr>Sitka Subheading Semibold</vt:lpstr>
      <vt:lpstr>Sitka Text Semibold</vt:lpstr>
      <vt:lpstr>Tw Cen MT</vt:lpstr>
      <vt:lpstr>Droplet</vt:lpstr>
      <vt:lpstr>JALADURG</vt:lpstr>
      <vt:lpstr>Information About Website</vt:lpstr>
      <vt:lpstr>Purpose of the Website</vt:lpstr>
      <vt:lpstr>Website Features</vt:lpstr>
      <vt:lpstr>PowerPoint Presentation</vt:lpstr>
      <vt:lpstr>Target Audience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Shelar</dc:creator>
  <cp:lastModifiedBy>Omkar Shelar</cp:lastModifiedBy>
  <cp:revision>6</cp:revision>
  <dcterms:created xsi:type="dcterms:W3CDTF">2025-04-09T09:55:30Z</dcterms:created>
  <dcterms:modified xsi:type="dcterms:W3CDTF">2025-04-11T05:55:55Z</dcterms:modified>
</cp:coreProperties>
</file>